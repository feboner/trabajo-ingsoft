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12192000" cy="6858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b6d6d66a9_0_1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b6d6d66a9_0_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b6d6d66a9_0_42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b6d6d66a9_0_4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00062"/>
            <a:ext cx="1352550" cy="638175"/>
          </a:xfrm>
          <a:custGeom>
            <a:rect b="b" l="l" r="r" t="t"/>
            <a:pathLst>
              <a:path extrusionOk="0" h="638175" w="1352550">
                <a:moveTo>
                  <a:pt x="1352550" y="0"/>
                </a:moveTo>
                <a:lnTo>
                  <a:pt x="0" y="0"/>
                </a:lnTo>
                <a:lnTo>
                  <a:pt x="0" y="637908"/>
                </a:lnTo>
                <a:lnTo>
                  <a:pt x="1352550" y="637908"/>
                </a:lnTo>
                <a:lnTo>
                  <a:pt x="1352550" y="0"/>
                </a:lnTo>
                <a:close/>
              </a:path>
            </a:pathLst>
          </a:custGeom>
          <a:solidFill>
            <a:srgbClr val="247B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10267950" y="6191250"/>
            <a:ext cx="269240" cy="302895"/>
          </a:xfrm>
          <a:custGeom>
            <a:rect b="b" l="l" r="r" t="t"/>
            <a:pathLst>
              <a:path extrusionOk="0" h="302895" w="269240">
                <a:moveTo>
                  <a:pt x="92582" y="0"/>
                </a:moveTo>
                <a:lnTo>
                  <a:pt x="67182" y="406"/>
                </a:lnTo>
                <a:lnTo>
                  <a:pt x="42925" y="1651"/>
                </a:lnTo>
                <a:lnTo>
                  <a:pt x="20320" y="3721"/>
                </a:lnTo>
                <a:lnTo>
                  <a:pt x="0" y="6616"/>
                </a:lnTo>
                <a:lnTo>
                  <a:pt x="0" y="298373"/>
                </a:lnTo>
                <a:lnTo>
                  <a:pt x="14224" y="299999"/>
                </a:lnTo>
                <a:lnTo>
                  <a:pt x="32003" y="301409"/>
                </a:lnTo>
                <a:lnTo>
                  <a:pt x="53213" y="302412"/>
                </a:lnTo>
                <a:lnTo>
                  <a:pt x="78104" y="302780"/>
                </a:lnTo>
                <a:lnTo>
                  <a:pt x="109991" y="301409"/>
                </a:lnTo>
                <a:lnTo>
                  <a:pt x="111849" y="301409"/>
                </a:lnTo>
                <a:lnTo>
                  <a:pt x="172847" y="289153"/>
                </a:lnTo>
                <a:lnTo>
                  <a:pt x="219201" y="264388"/>
                </a:lnTo>
                <a:lnTo>
                  <a:pt x="233172" y="250266"/>
                </a:lnTo>
                <a:lnTo>
                  <a:pt x="87410" y="250266"/>
                </a:lnTo>
                <a:lnTo>
                  <a:pt x="79755" y="250101"/>
                </a:lnTo>
                <a:lnTo>
                  <a:pt x="73786" y="249694"/>
                </a:lnTo>
                <a:lnTo>
                  <a:pt x="68706" y="248932"/>
                </a:lnTo>
                <a:lnTo>
                  <a:pt x="68706" y="54279"/>
                </a:lnTo>
                <a:lnTo>
                  <a:pt x="73914" y="53314"/>
                </a:lnTo>
                <a:lnTo>
                  <a:pt x="80899" y="52463"/>
                </a:lnTo>
                <a:lnTo>
                  <a:pt x="89534" y="51866"/>
                </a:lnTo>
                <a:lnTo>
                  <a:pt x="99822" y="51638"/>
                </a:lnTo>
                <a:lnTo>
                  <a:pt x="196596" y="51638"/>
                </a:lnTo>
                <a:lnTo>
                  <a:pt x="196596" y="18326"/>
                </a:lnTo>
                <a:lnTo>
                  <a:pt x="194182" y="16941"/>
                </a:lnTo>
                <a:lnTo>
                  <a:pt x="166243" y="7340"/>
                </a:lnTo>
                <a:lnTo>
                  <a:pt x="132715" y="1790"/>
                </a:lnTo>
                <a:lnTo>
                  <a:pt x="92582" y="0"/>
                </a:lnTo>
                <a:close/>
              </a:path>
              <a:path extrusionOk="0" h="302895" w="269240">
                <a:moveTo>
                  <a:pt x="196596" y="18326"/>
                </a:moveTo>
                <a:lnTo>
                  <a:pt x="196596" y="146088"/>
                </a:lnTo>
                <a:lnTo>
                  <a:pt x="193167" y="178523"/>
                </a:lnTo>
                <a:lnTo>
                  <a:pt x="168148" y="224993"/>
                </a:lnTo>
                <a:lnTo>
                  <a:pt x="122174" y="247637"/>
                </a:lnTo>
                <a:lnTo>
                  <a:pt x="92582" y="250266"/>
                </a:lnTo>
                <a:lnTo>
                  <a:pt x="233172" y="250266"/>
                </a:lnTo>
                <a:lnTo>
                  <a:pt x="259969" y="203911"/>
                </a:lnTo>
                <a:lnTo>
                  <a:pt x="269240" y="143890"/>
                </a:lnTo>
                <a:lnTo>
                  <a:pt x="265683" y="107111"/>
                </a:lnTo>
                <a:lnTo>
                  <a:pt x="255397" y="76123"/>
                </a:lnTo>
                <a:lnTo>
                  <a:pt x="239775" y="51638"/>
                </a:lnTo>
                <a:lnTo>
                  <a:pt x="239141" y="50774"/>
                </a:lnTo>
                <a:lnTo>
                  <a:pt x="217804" y="30886"/>
                </a:lnTo>
                <a:lnTo>
                  <a:pt x="196596" y="18326"/>
                </a:lnTo>
                <a:close/>
              </a:path>
              <a:path extrusionOk="0" h="302895" w="269240">
                <a:moveTo>
                  <a:pt x="196596" y="51638"/>
                </a:moveTo>
                <a:lnTo>
                  <a:pt x="99822" y="51638"/>
                </a:lnTo>
                <a:lnTo>
                  <a:pt x="128735" y="54279"/>
                </a:lnTo>
                <a:lnTo>
                  <a:pt x="128034" y="54279"/>
                </a:lnTo>
                <a:lnTo>
                  <a:pt x="170560" y="74866"/>
                </a:lnTo>
                <a:lnTo>
                  <a:pt x="193548" y="116878"/>
                </a:lnTo>
                <a:lnTo>
                  <a:pt x="196596" y="146088"/>
                </a:lnTo>
                <a:lnTo>
                  <a:pt x="196596" y="516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62081" y="6275108"/>
            <a:ext cx="211074" cy="2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6523" y="6270256"/>
            <a:ext cx="230885" cy="225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50905" y="6270256"/>
            <a:ext cx="178943" cy="22553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11296650" y="6210299"/>
            <a:ext cx="476250" cy="285750"/>
          </a:xfrm>
          <a:custGeom>
            <a:rect b="b" l="l" r="r" t="t"/>
            <a:pathLst>
              <a:path extrusionOk="0" h="285750" w="476250">
                <a:moveTo>
                  <a:pt x="228346" y="0"/>
                </a:moveTo>
                <a:lnTo>
                  <a:pt x="165354" y="0"/>
                </a:lnTo>
                <a:lnTo>
                  <a:pt x="165354" y="161823"/>
                </a:lnTo>
                <a:lnTo>
                  <a:pt x="161925" y="194183"/>
                </a:lnTo>
                <a:lnTo>
                  <a:pt x="152019" y="216941"/>
                </a:lnTo>
                <a:lnTo>
                  <a:pt x="136017" y="230403"/>
                </a:lnTo>
                <a:lnTo>
                  <a:pt x="113919" y="234835"/>
                </a:lnTo>
                <a:lnTo>
                  <a:pt x="92456" y="230225"/>
                </a:lnTo>
                <a:lnTo>
                  <a:pt x="76581" y="216484"/>
                </a:lnTo>
                <a:lnTo>
                  <a:pt x="66802" y="193649"/>
                </a:lnTo>
                <a:lnTo>
                  <a:pt x="63373" y="161823"/>
                </a:lnTo>
                <a:lnTo>
                  <a:pt x="63373" y="0"/>
                </a:lnTo>
                <a:lnTo>
                  <a:pt x="0" y="0"/>
                </a:lnTo>
                <a:lnTo>
                  <a:pt x="0" y="156832"/>
                </a:lnTo>
                <a:lnTo>
                  <a:pt x="2540" y="192214"/>
                </a:lnTo>
                <a:lnTo>
                  <a:pt x="21844" y="245211"/>
                </a:lnTo>
                <a:lnTo>
                  <a:pt x="58928" y="275856"/>
                </a:lnTo>
                <a:lnTo>
                  <a:pt x="111887" y="285724"/>
                </a:lnTo>
                <a:lnTo>
                  <a:pt x="141224" y="283184"/>
                </a:lnTo>
                <a:lnTo>
                  <a:pt x="188341" y="262636"/>
                </a:lnTo>
                <a:lnTo>
                  <a:pt x="217932" y="220992"/>
                </a:lnTo>
                <a:lnTo>
                  <a:pt x="228346" y="157670"/>
                </a:lnTo>
                <a:lnTo>
                  <a:pt x="228346" y="0"/>
                </a:lnTo>
                <a:close/>
              </a:path>
              <a:path extrusionOk="0" h="285750" w="476250">
                <a:moveTo>
                  <a:pt x="476250" y="12306"/>
                </a:moveTo>
                <a:lnTo>
                  <a:pt x="465455" y="7962"/>
                </a:lnTo>
                <a:lnTo>
                  <a:pt x="450088" y="4000"/>
                </a:lnTo>
                <a:lnTo>
                  <a:pt x="430911" y="1117"/>
                </a:lnTo>
                <a:lnTo>
                  <a:pt x="408051" y="0"/>
                </a:lnTo>
                <a:lnTo>
                  <a:pt x="380873" y="1930"/>
                </a:lnTo>
                <a:lnTo>
                  <a:pt x="331851" y="17119"/>
                </a:lnTo>
                <a:lnTo>
                  <a:pt x="292608" y="46812"/>
                </a:lnTo>
                <a:lnTo>
                  <a:pt x="266573" y="90322"/>
                </a:lnTo>
                <a:lnTo>
                  <a:pt x="257175" y="146951"/>
                </a:lnTo>
                <a:lnTo>
                  <a:pt x="259461" y="175526"/>
                </a:lnTo>
                <a:lnTo>
                  <a:pt x="277749" y="225475"/>
                </a:lnTo>
                <a:lnTo>
                  <a:pt x="314198" y="262559"/>
                </a:lnTo>
                <a:lnTo>
                  <a:pt x="368300" y="282943"/>
                </a:lnTo>
                <a:lnTo>
                  <a:pt x="401955" y="285673"/>
                </a:lnTo>
                <a:lnTo>
                  <a:pt x="425577" y="284556"/>
                </a:lnTo>
                <a:lnTo>
                  <a:pt x="472948" y="273367"/>
                </a:lnTo>
                <a:lnTo>
                  <a:pt x="463423" y="224523"/>
                </a:lnTo>
                <a:lnTo>
                  <a:pt x="452755" y="228015"/>
                </a:lnTo>
                <a:lnTo>
                  <a:pt x="439928" y="230873"/>
                </a:lnTo>
                <a:lnTo>
                  <a:pt x="425704" y="232829"/>
                </a:lnTo>
                <a:lnTo>
                  <a:pt x="411353" y="233553"/>
                </a:lnTo>
                <a:lnTo>
                  <a:pt x="380746" y="229476"/>
                </a:lnTo>
                <a:lnTo>
                  <a:pt x="356108" y="217716"/>
                </a:lnTo>
                <a:lnTo>
                  <a:pt x="337947" y="198970"/>
                </a:lnTo>
                <a:lnTo>
                  <a:pt x="326644" y="173913"/>
                </a:lnTo>
                <a:lnTo>
                  <a:pt x="322834" y="143243"/>
                </a:lnTo>
                <a:lnTo>
                  <a:pt x="327152" y="110083"/>
                </a:lnTo>
                <a:lnTo>
                  <a:pt x="339598" y="84429"/>
                </a:lnTo>
                <a:lnTo>
                  <a:pt x="358521" y="66192"/>
                </a:lnTo>
                <a:lnTo>
                  <a:pt x="382778" y="55308"/>
                </a:lnTo>
                <a:lnTo>
                  <a:pt x="410972" y="51701"/>
                </a:lnTo>
                <a:lnTo>
                  <a:pt x="426720" y="52552"/>
                </a:lnTo>
                <a:lnTo>
                  <a:pt x="440817" y="54838"/>
                </a:lnTo>
                <a:lnTo>
                  <a:pt x="453009" y="58127"/>
                </a:lnTo>
                <a:lnTo>
                  <a:pt x="463423" y="61988"/>
                </a:lnTo>
                <a:lnTo>
                  <a:pt x="476250" y="1230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744325" y="6134101"/>
            <a:ext cx="66673" cy="6667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>
            <p:ph type="title"/>
          </p:nvPr>
        </p:nvSpPr>
        <p:spPr>
          <a:xfrm>
            <a:off x="469265" y="212090"/>
            <a:ext cx="11253469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1323086" y="1934781"/>
            <a:ext cx="6685915" cy="4304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/>
          <p:nvPr/>
        </p:nvSpPr>
        <p:spPr>
          <a:xfrm>
            <a:off x="4381500" y="4781550"/>
            <a:ext cx="6000750" cy="1381125"/>
          </a:xfrm>
          <a:custGeom>
            <a:rect b="b" l="l" r="r" t="t"/>
            <a:pathLst>
              <a:path extrusionOk="0" h="1381125" w="6000750">
                <a:moveTo>
                  <a:pt x="6000750" y="0"/>
                </a:moveTo>
                <a:lnTo>
                  <a:pt x="0" y="0"/>
                </a:lnTo>
                <a:lnTo>
                  <a:pt x="0" y="1381125"/>
                </a:lnTo>
                <a:lnTo>
                  <a:pt x="6000750" y="1381125"/>
                </a:lnTo>
                <a:lnTo>
                  <a:pt x="6000750" y="0"/>
                </a:lnTo>
                <a:close/>
              </a:path>
            </a:pathLst>
          </a:custGeom>
          <a:solidFill>
            <a:srgbClr val="172740">
              <a:alpha val="5843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 txBox="1"/>
          <p:nvPr>
            <p:ph type="title"/>
          </p:nvPr>
        </p:nvSpPr>
        <p:spPr>
          <a:xfrm>
            <a:off x="469265" y="212090"/>
            <a:ext cx="11253469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469265" y="212090"/>
            <a:ext cx="11253469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69265" y="212090"/>
            <a:ext cx="11253469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1323086" y="1934781"/>
            <a:ext cx="6685915" cy="4304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3.jpg"/><Relationship Id="rId5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jpg"/><Relationship Id="rId5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3.jp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/>
        </p:nvSpPr>
        <p:spPr>
          <a:xfrm>
            <a:off x="1193482" y="2892996"/>
            <a:ext cx="3683635" cy="159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0" lvl="0" marL="12700" marR="5080" rtl="0" algn="l">
              <a:lnSpc>
                <a:spcPct val="10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172740"/>
                </a:solidFill>
                <a:latin typeface="Arial"/>
                <a:ea typeface="Arial"/>
                <a:cs typeface="Arial"/>
                <a:sym typeface="Arial"/>
              </a:rPr>
              <a:t>Ingeniería en Software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0" y="2981325"/>
            <a:ext cx="200025" cy="676275"/>
          </a:xfrm>
          <a:custGeom>
            <a:rect b="b" l="l" r="r" t="t"/>
            <a:pathLst>
              <a:path extrusionOk="0" h="676275" w="200025">
                <a:moveTo>
                  <a:pt x="200025" y="0"/>
                </a:moveTo>
                <a:lnTo>
                  <a:pt x="0" y="0"/>
                </a:lnTo>
                <a:lnTo>
                  <a:pt x="0" y="676275"/>
                </a:lnTo>
                <a:lnTo>
                  <a:pt x="200025" y="676275"/>
                </a:lnTo>
                <a:lnTo>
                  <a:pt x="200025" y="0"/>
                </a:lnTo>
                <a:close/>
              </a:path>
            </a:pathLst>
          </a:custGeom>
          <a:solidFill>
            <a:srgbClr val="009F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266700" y="2981325"/>
            <a:ext cx="200025" cy="676275"/>
          </a:xfrm>
          <a:custGeom>
            <a:rect b="b" l="l" r="r" t="t"/>
            <a:pathLst>
              <a:path extrusionOk="0" h="676275" w="200025">
                <a:moveTo>
                  <a:pt x="200025" y="0"/>
                </a:moveTo>
                <a:lnTo>
                  <a:pt x="0" y="0"/>
                </a:lnTo>
                <a:lnTo>
                  <a:pt x="0" y="676275"/>
                </a:lnTo>
                <a:lnTo>
                  <a:pt x="200025" y="676275"/>
                </a:lnTo>
                <a:lnTo>
                  <a:pt x="200025" y="0"/>
                </a:lnTo>
                <a:close/>
              </a:path>
            </a:pathLst>
          </a:custGeom>
          <a:solidFill>
            <a:srgbClr val="009F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533400" y="2981325"/>
            <a:ext cx="200025" cy="676275"/>
          </a:xfrm>
          <a:custGeom>
            <a:rect b="b" l="l" r="r" t="t"/>
            <a:pathLst>
              <a:path extrusionOk="0" h="676275" w="200025">
                <a:moveTo>
                  <a:pt x="200025" y="0"/>
                </a:moveTo>
                <a:lnTo>
                  <a:pt x="0" y="0"/>
                </a:lnTo>
                <a:lnTo>
                  <a:pt x="0" y="676275"/>
                </a:lnTo>
                <a:lnTo>
                  <a:pt x="200025" y="676275"/>
                </a:lnTo>
                <a:lnTo>
                  <a:pt x="200025" y="0"/>
                </a:lnTo>
                <a:close/>
              </a:path>
            </a:pathLst>
          </a:custGeom>
          <a:solidFill>
            <a:srgbClr val="009F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" name="Google Shape;58;p7"/>
          <p:cNvGrpSpPr/>
          <p:nvPr/>
        </p:nvGrpSpPr>
        <p:grpSpPr>
          <a:xfrm>
            <a:off x="5603875" y="126470"/>
            <a:ext cx="6657975" cy="6858000"/>
            <a:chOff x="5534025" y="0"/>
            <a:chExt cx="6657975" cy="6858000"/>
          </a:xfrm>
        </p:grpSpPr>
        <p:sp>
          <p:nvSpPr>
            <p:cNvPr id="59" name="Google Shape;59;p7"/>
            <p:cNvSpPr/>
            <p:nvPr/>
          </p:nvSpPr>
          <p:spPr>
            <a:xfrm>
              <a:off x="10696575" y="0"/>
              <a:ext cx="1495425" cy="6858000"/>
            </a:xfrm>
            <a:custGeom>
              <a:rect b="b" l="l" r="r" t="t"/>
              <a:pathLst>
                <a:path extrusionOk="0" h="6858000" w="1495425">
                  <a:moveTo>
                    <a:pt x="14954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425" y="6858000"/>
                  </a:lnTo>
                  <a:lnTo>
                    <a:pt x="1495425" y="0"/>
                  </a:lnTo>
                  <a:close/>
                </a:path>
              </a:pathLst>
            </a:custGeom>
            <a:solidFill>
              <a:srgbClr val="009FD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" name="Google Shape;6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4025" y="361886"/>
              <a:ext cx="6310376" cy="63199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5686425" y="390525"/>
              <a:ext cx="6010275" cy="6019800"/>
            </a:xfrm>
            <a:custGeom>
              <a:rect b="b" l="l" r="r" t="t"/>
              <a:pathLst>
                <a:path extrusionOk="0" h="6019800" w="6010275">
                  <a:moveTo>
                    <a:pt x="6010275" y="0"/>
                  </a:moveTo>
                  <a:lnTo>
                    <a:pt x="0" y="0"/>
                  </a:lnTo>
                  <a:lnTo>
                    <a:pt x="0" y="6019800"/>
                  </a:lnTo>
                  <a:lnTo>
                    <a:pt x="6010275" y="6019800"/>
                  </a:lnTo>
                  <a:lnTo>
                    <a:pt x="6010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67375" y="838200"/>
              <a:ext cx="5772150" cy="51244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>
            <a:off x="12018009" y="6434454"/>
            <a:ext cx="10287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C79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469265" y="212090"/>
            <a:ext cx="11253469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69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Sección: 008D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469275" y="1339150"/>
            <a:ext cx="5006700" cy="58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55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lang="en-US" sz="2400">
                <a:solidFill>
                  <a:srgbClr val="FFFFFF"/>
                </a:solidFill>
              </a:rPr>
              <a:t>Matías </a:t>
            </a:r>
            <a:r>
              <a:rPr lang="en-US" sz="2400">
                <a:solidFill>
                  <a:srgbClr val="FFFFFF"/>
                </a:solidFill>
              </a:rPr>
              <a:t>Azócar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lang="en-US" sz="2400">
                <a:solidFill>
                  <a:srgbClr val="FFFFFF"/>
                </a:solidFill>
              </a:rPr>
              <a:t>Matía</a:t>
            </a:r>
            <a:r>
              <a:rPr lang="en-US" sz="2400">
                <a:solidFill>
                  <a:srgbClr val="FFFFFF"/>
                </a:solidFill>
              </a:rPr>
              <a:t>s </a:t>
            </a:r>
            <a:r>
              <a:rPr lang="en-US" sz="2400">
                <a:solidFill>
                  <a:srgbClr val="FFFFFF"/>
                </a:solidFill>
              </a:rPr>
              <a:t>Cabezas</a:t>
            </a:r>
            <a:endParaRPr sz="24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AutoNum type="arabicPeriod"/>
            </a:pPr>
            <a:r>
              <a:rPr lang="en-US" sz="2400">
                <a:solidFill>
                  <a:srgbClr val="FFFFFF"/>
                </a:solidFill>
              </a:rPr>
              <a:t>Apolo vallejos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FFFF"/>
                </a:solidFill>
              </a:rPr>
              <a:t>Docente: 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CINDY BETZABÉ CONTADOR CISTERNA</a:t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FFFFFF"/>
              </a:solidFill>
            </a:endParaRPr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8350" y="0"/>
            <a:ext cx="25336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987947" y="570969"/>
            <a:ext cx="30930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72740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4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0" y="1085850"/>
            <a:ext cx="85725" cy="666750"/>
          </a:xfrm>
          <a:custGeom>
            <a:rect b="b" l="l" r="r" t="t"/>
            <a:pathLst>
              <a:path extrusionOk="0" h="666750" w="85725">
                <a:moveTo>
                  <a:pt x="85725" y="0"/>
                </a:moveTo>
                <a:lnTo>
                  <a:pt x="0" y="0"/>
                </a:lnTo>
                <a:lnTo>
                  <a:pt x="0" y="666750"/>
                </a:lnTo>
                <a:lnTo>
                  <a:pt x="85725" y="666750"/>
                </a:lnTo>
                <a:lnTo>
                  <a:pt x="85725" y="0"/>
                </a:lnTo>
                <a:close/>
              </a:path>
            </a:pathLst>
          </a:custGeom>
          <a:solidFill>
            <a:srgbClr val="009F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9"/>
          <p:cNvSpPr/>
          <p:nvPr/>
        </p:nvSpPr>
        <p:spPr>
          <a:xfrm>
            <a:off x="161925" y="1085850"/>
            <a:ext cx="190500" cy="666750"/>
          </a:xfrm>
          <a:custGeom>
            <a:rect b="b" l="l" r="r" t="t"/>
            <a:pathLst>
              <a:path extrusionOk="0" h="666750" w="190500">
                <a:moveTo>
                  <a:pt x="190500" y="0"/>
                </a:moveTo>
                <a:lnTo>
                  <a:pt x="0" y="0"/>
                </a:lnTo>
                <a:lnTo>
                  <a:pt x="0" y="666750"/>
                </a:lnTo>
                <a:lnTo>
                  <a:pt x="190500" y="666750"/>
                </a:lnTo>
                <a:lnTo>
                  <a:pt x="190500" y="0"/>
                </a:lnTo>
                <a:close/>
              </a:path>
            </a:pathLst>
          </a:custGeom>
          <a:solidFill>
            <a:srgbClr val="009FD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9"/>
          <p:cNvSpPr txBox="1"/>
          <p:nvPr/>
        </p:nvSpPr>
        <p:spPr>
          <a:xfrm>
            <a:off x="0" y="1697100"/>
            <a:ext cx="5580600" cy="51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5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</a:rPr>
              <a:t>Contexto del problema: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   1.- Filas eternas; la gente debe esperar entre 8 a 20 horas para cruzar los </a:t>
            </a:r>
            <a:r>
              <a:rPr lang="en-US" sz="1200">
                <a:solidFill>
                  <a:schemeClr val="dk1"/>
                </a:solidFill>
              </a:rPr>
              <a:t>Libertadores.</a:t>
            </a:r>
            <a:r>
              <a:rPr lang="en-US" sz="1200">
                <a:solidFill>
                  <a:schemeClr val="dk1"/>
                </a:solidFill>
              </a:rPr>
              <a:t>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 2.- Muchos autos juntos; En vacaciones o feriados largos hay un 180% </a:t>
            </a:r>
            <a:r>
              <a:rPr lang="en-US" sz="1200">
                <a:solidFill>
                  <a:schemeClr val="dk1"/>
                </a:solidFill>
              </a:rPr>
              <a:t>más</a:t>
            </a:r>
            <a:r>
              <a:rPr lang="en-US" sz="1200">
                <a:solidFill>
                  <a:schemeClr val="dk1"/>
                </a:solidFill>
              </a:rPr>
              <a:t> de flujo y las casetas colapsan con tanto papel.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    </a:t>
            </a:r>
            <a:r>
              <a:rPr b="1" lang="en-US" sz="1100">
                <a:solidFill>
                  <a:schemeClr val="dk1"/>
                </a:solidFill>
              </a:rPr>
              <a:t>                                                                    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Qué queremos lograr: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  </a:t>
            </a:r>
            <a:r>
              <a:rPr lang="en-US" sz="1200">
                <a:solidFill>
                  <a:schemeClr val="dk1"/>
                </a:solidFill>
              </a:rPr>
              <a:t>1.- Viajes más rápidos: Bajar drásticamente el tiempo de espera para que el trámite tome minutos y no horas.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2.-  No más doble trámite: Que la PDI, el SAG y la Aduana compartan los datos al tiro en vez de pedir el papel tres veces.</a:t>
            </a:r>
            <a:endParaRPr b="1" sz="1200">
              <a:solidFill>
                <a:schemeClr val="dk1"/>
              </a:solidFill>
            </a:endParaRPr>
          </a:p>
          <a:p>
            <a:pPr indent="0" lvl="0" marL="914400" marR="323215" rtl="0" algn="l">
              <a:lnSpc>
                <a:spcPct val="909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72740"/>
              </a:solidFill>
            </a:endParaRPr>
          </a:p>
        </p:txBody>
      </p:sp>
      <p:grpSp>
        <p:nvGrpSpPr>
          <p:cNvPr id="81" name="Google Shape;81;p9"/>
          <p:cNvGrpSpPr/>
          <p:nvPr/>
        </p:nvGrpSpPr>
        <p:grpSpPr>
          <a:xfrm>
            <a:off x="5534025" y="0"/>
            <a:ext cx="6657975" cy="6858000"/>
            <a:chOff x="5534025" y="0"/>
            <a:chExt cx="6657975" cy="6858000"/>
          </a:xfrm>
        </p:grpSpPr>
        <p:sp>
          <p:nvSpPr>
            <p:cNvPr id="82" name="Google Shape;82;p9"/>
            <p:cNvSpPr/>
            <p:nvPr/>
          </p:nvSpPr>
          <p:spPr>
            <a:xfrm>
              <a:off x="10696575" y="0"/>
              <a:ext cx="1495425" cy="6858000"/>
            </a:xfrm>
            <a:custGeom>
              <a:rect b="b" l="l" r="r" t="t"/>
              <a:pathLst>
                <a:path extrusionOk="0" h="6858000" w="1495425">
                  <a:moveTo>
                    <a:pt x="1495425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425" y="6858000"/>
                  </a:lnTo>
                  <a:lnTo>
                    <a:pt x="1495425" y="0"/>
                  </a:lnTo>
                  <a:close/>
                </a:path>
              </a:pathLst>
            </a:custGeom>
            <a:solidFill>
              <a:srgbClr val="009FD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3" name="Google Shape;8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534025" y="485711"/>
              <a:ext cx="6310376" cy="6138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5686425" y="514350"/>
              <a:ext cx="6010275" cy="5838825"/>
            </a:xfrm>
            <a:custGeom>
              <a:rect b="b" l="l" r="r" t="t"/>
              <a:pathLst>
                <a:path extrusionOk="0" h="5838825" w="6010275">
                  <a:moveTo>
                    <a:pt x="6010275" y="0"/>
                  </a:moveTo>
                  <a:lnTo>
                    <a:pt x="0" y="0"/>
                  </a:lnTo>
                  <a:lnTo>
                    <a:pt x="0" y="5838825"/>
                  </a:lnTo>
                  <a:lnTo>
                    <a:pt x="6010275" y="5838825"/>
                  </a:lnTo>
                  <a:lnTo>
                    <a:pt x="6010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5" name="Google Shape;85;p9"/>
            <p:cNvPicPr preferRelativeResize="0"/>
            <p:nvPr/>
          </p:nvPicPr>
          <p:blipFill rotWithShape="1">
            <a:blip r:embed="rId4">
              <a:alphaModFix/>
            </a:blip>
            <a:srcRect b="-9" l="0" r="22547" t="13211"/>
            <a:stretch/>
          </p:blipFill>
          <p:spPr>
            <a:xfrm>
              <a:off x="5911000" y="2242168"/>
              <a:ext cx="3747351" cy="407390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6" name="Google Shape;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8350" y="0"/>
            <a:ext cx="25336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0"/>
          <p:cNvGrpSpPr/>
          <p:nvPr/>
        </p:nvGrpSpPr>
        <p:grpSpPr>
          <a:xfrm>
            <a:off x="438150" y="6191250"/>
            <a:ext cx="961897" cy="304558"/>
            <a:chOff x="438150" y="6191250"/>
            <a:chExt cx="961897" cy="304558"/>
          </a:xfrm>
        </p:grpSpPr>
        <p:sp>
          <p:nvSpPr>
            <p:cNvPr id="93" name="Google Shape;93;p10"/>
            <p:cNvSpPr/>
            <p:nvPr/>
          </p:nvSpPr>
          <p:spPr>
            <a:xfrm>
              <a:off x="438150" y="6191250"/>
              <a:ext cx="269875" cy="302895"/>
            </a:xfrm>
            <a:custGeom>
              <a:rect b="b" l="l" r="r" t="t"/>
              <a:pathLst>
                <a:path extrusionOk="0" h="302895" w="269875">
                  <a:moveTo>
                    <a:pt x="92633" y="0"/>
                  </a:moveTo>
                  <a:lnTo>
                    <a:pt x="67221" y="406"/>
                  </a:lnTo>
                  <a:lnTo>
                    <a:pt x="42926" y="1651"/>
                  </a:lnTo>
                  <a:lnTo>
                    <a:pt x="20320" y="3721"/>
                  </a:lnTo>
                  <a:lnTo>
                    <a:pt x="0" y="6616"/>
                  </a:lnTo>
                  <a:lnTo>
                    <a:pt x="0" y="298373"/>
                  </a:lnTo>
                  <a:lnTo>
                    <a:pt x="14249" y="299999"/>
                  </a:lnTo>
                  <a:lnTo>
                    <a:pt x="31965" y="301409"/>
                  </a:lnTo>
                  <a:lnTo>
                    <a:pt x="53251" y="302412"/>
                  </a:lnTo>
                  <a:lnTo>
                    <a:pt x="78168" y="302780"/>
                  </a:lnTo>
                  <a:lnTo>
                    <a:pt x="109996" y="301409"/>
                  </a:lnTo>
                  <a:lnTo>
                    <a:pt x="111848" y="301409"/>
                  </a:lnTo>
                  <a:lnTo>
                    <a:pt x="172847" y="289153"/>
                  </a:lnTo>
                  <a:lnTo>
                    <a:pt x="219151" y="264388"/>
                  </a:lnTo>
                  <a:lnTo>
                    <a:pt x="233207" y="250266"/>
                  </a:lnTo>
                  <a:lnTo>
                    <a:pt x="87461" y="250266"/>
                  </a:lnTo>
                  <a:lnTo>
                    <a:pt x="79806" y="250101"/>
                  </a:lnTo>
                  <a:lnTo>
                    <a:pt x="73748" y="249694"/>
                  </a:lnTo>
                  <a:lnTo>
                    <a:pt x="68668" y="248932"/>
                  </a:lnTo>
                  <a:lnTo>
                    <a:pt x="68668" y="54279"/>
                  </a:lnTo>
                  <a:lnTo>
                    <a:pt x="73926" y="53314"/>
                  </a:lnTo>
                  <a:lnTo>
                    <a:pt x="80873" y="52463"/>
                  </a:lnTo>
                  <a:lnTo>
                    <a:pt x="89522" y="51866"/>
                  </a:lnTo>
                  <a:lnTo>
                    <a:pt x="99860" y="51638"/>
                  </a:lnTo>
                  <a:lnTo>
                    <a:pt x="196557" y="51638"/>
                  </a:lnTo>
                  <a:lnTo>
                    <a:pt x="196557" y="18326"/>
                  </a:lnTo>
                  <a:lnTo>
                    <a:pt x="194233" y="16941"/>
                  </a:lnTo>
                  <a:lnTo>
                    <a:pt x="166217" y="7340"/>
                  </a:lnTo>
                  <a:lnTo>
                    <a:pt x="132702" y="1790"/>
                  </a:lnTo>
                  <a:lnTo>
                    <a:pt x="92633" y="0"/>
                  </a:lnTo>
                  <a:close/>
                </a:path>
                <a:path extrusionOk="0" h="302895" w="269875">
                  <a:moveTo>
                    <a:pt x="196557" y="18326"/>
                  </a:moveTo>
                  <a:lnTo>
                    <a:pt x="196557" y="146088"/>
                  </a:lnTo>
                  <a:lnTo>
                    <a:pt x="193217" y="178523"/>
                  </a:lnTo>
                  <a:lnTo>
                    <a:pt x="168135" y="224993"/>
                  </a:lnTo>
                  <a:lnTo>
                    <a:pt x="122135" y="247637"/>
                  </a:lnTo>
                  <a:lnTo>
                    <a:pt x="92633" y="250266"/>
                  </a:lnTo>
                  <a:lnTo>
                    <a:pt x="233207" y="250266"/>
                  </a:lnTo>
                  <a:lnTo>
                    <a:pt x="259969" y="203911"/>
                  </a:lnTo>
                  <a:lnTo>
                    <a:pt x="269290" y="143890"/>
                  </a:lnTo>
                  <a:lnTo>
                    <a:pt x="265684" y="107111"/>
                  </a:lnTo>
                  <a:lnTo>
                    <a:pt x="255397" y="76123"/>
                  </a:lnTo>
                  <a:lnTo>
                    <a:pt x="239179" y="50774"/>
                  </a:lnTo>
                  <a:lnTo>
                    <a:pt x="217804" y="30886"/>
                  </a:lnTo>
                  <a:lnTo>
                    <a:pt x="196557" y="18326"/>
                  </a:lnTo>
                  <a:close/>
                </a:path>
                <a:path extrusionOk="0" h="302895" w="269875">
                  <a:moveTo>
                    <a:pt x="196557" y="51638"/>
                  </a:moveTo>
                  <a:lnTo>
                    <a:pt x="99860" y="51638"/>
                  </a:lnTo>
                  <a:lnTo>
                    <a:pt x="128694" y="54279"/>
                  </a:lnTo>
                  <a:lnTo>
                    <a:pt x="127997" y="54279"/>
                  </a:lnTo>
                  <a:lnTo>
                    <a:pt x="170573" y="74866"/>
                  </a:lnTo>
                  <a:lnTo>
                    <a:pt x="193522" y="116878"/>
                  </a:lnTo>
                  <a:lnTo>
                    <a:pt x="196557" y="146088"/>
                  </a:lnTo>
                  <a:lnTo>
                    <a:pt x="196557" y="516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4" name="Google Shape;9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2294" y="6275108"/>
              <a:ext cx="211010" cy="22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6698" y="6270256"/>
              <a:ext cx="230873" cy="225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21105" y="6270256"/>
              <a:ext cx="178942" cy="2255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0"/>
          <p:cNvGrpSpPr/>
          <p:nvPr/>
        </p:nvGrpSpPr>
        <p:grpSpPr>
          <a:xfrm>
            <a:off x="1466850" y="6134101"/>
            <a:ext cx="514350" cy="361948"/>
            <a:chOff x="1466850" y="6134101"/>
            <a:chExt cx="514350" cy="361948"/>
          </a:xfrm>
        </p:grpSpPr>
        <p:sp>
          <p:nvSpPr>
            <p:cNvPr id="98" name="Google Shape;98;p10"/>
            <p:cNvSpPr/>
            <p:nvPr/>
          </p:nvSpPr>
          <p:spPr>
            <a:xfrm>
              <a:off x="1466850" y="6210299"/>
              <a:ext cx="476250" cy="285750"/>
            </a:xfrm>
            <a:custGeom>
              <a:rect b="b" l="l" r="r" t="t"/>
              <a:pathLst>
                <a:path extrusionOk="0" h="285750" w="476250">
                  <a:moveTo>
                    <a:pt x="228346" y="0"/>
                  </a:moveTo>
                  <a:lnTo>
                    <a:pt x="165354" y="0"/>
                  </a:lnTo>
                  <a:lnTo>
                    <a:pt x="165354" y="161823"/>
                  </a:lnTo>
                  <a:lnTo>
                    <a:pt x="161925" y="194183"/>
                  </a:lnTo>
                  <a:lnTo>
                    <a:pt x="152019" y="216941"/>
                  </a:lnTo>
                  <a:lnTo>
                    <a:pt x="136017" y="230403"/>
                  </a:lnTo>
                  <a:lnTo>
                    <a:pt x="113919" y="234835"/>
                  </a:lnTo>
                  <a:lnTo>
                    <a:pt x="92456" y="230225"/>
                  </a:lnTo>
                  <a:lnTo>
                    <a:pt x="76581" y="216484"/>
                  </a:lnTo>
                  <a:lnTo>
                    <a:pt x="66802" y="193649"/>
                  </a:lnTo>
                  <a:lnTo>
                    <a:pt x="63373" y="161823"/>
                  </a:lnTo>
                  <a:lnTo>
                    <a:pt x="63373" y="0"/>
                  </a:lnTo>
                  <a:lnTo>
                    <a:pt x="0" y="0"/>
                  </a:lnTo>
                  <a:lnTo>
                    <a:pt x="0" y="156832"/>
                  </a:lnTo>
                  <a:lnTo>
                    <a:pt x="2540" y="192214"/>
                  </a:lnTo>
                  <a:lnTo>
                    <a:pt x="21844" y="245211"/>
                  </a:lnTo>
                  <a:lnTo>
                    <a:pt x="58928" y="275856"/>
                  </a:lnTo>
                  <a:lnTo>
                    <a:pt x="111887" y="285724"/>
                  </a:lnTo>
                  <a:lnTo>
                    <a:pt x="141224" y="283184"/>
                  </a:lnTo>
                  <a:lnTo>
                    <a:pt x="188341" y="262636"/>
                  </a:lnTo>
                  <a:lnTo>
                    <a:pt x="217932" y="220992"/>
                  </a:lnTo>
                  <a:lnTo>
                    <a:pt x="228346" y="157670"/>
                  </a:lnTo>
                  <a:lnTo>
                    <a:pt x="228346" y="0"/>
                  </a:lnTo>
                  <a:close/>
                </a:path>
                <a:path extrusionOk="0" h="285750" w="476250">
                  <a:moveTo>
                    <a:pt x="476250" y="12306"/>
                  </a:moveTo>
                  <a:lnTo>
                    <a:pt x="465455" y="7962"/>
                  </a:lnTo>
                  <a:lnTo>
                    <a:pt x="450088" y="4000"/>
                  </a:lnTo>
                  <a:lnTo>
                    <a:pt x="430911" y="1117"/>
                  </a:lnTo>
                  <a:lnTo>
                    <a:pt x="408051" y="0"/>
                  </a:lnTo>
                  <a:lnTo>
                    <a:pt x="380873" y="1930"/>
                  </a:lnTo>
                  <a:lnTo>
                    <a:pt x="331851" y="17119"/>
                  </a:lnTo>
                  <a:lnTo>
                    <a:pt x="292608" y="46812"/>
                  </a:lnTo>
                  <a:lnTo>
                    <a:pt x="266573" y="90322"/>
                  </a:lnTo>
                  <a:lnTo>
                    <a:pt x="257175" y="146951"/>
                  </a:lnTo>
                  <a:lnTo>
                    <a:pt x="259461" y="175526"/>
                  </a:lnTo>
                  <a:lnTo>
                    <a:pt x="277749" y="225475"/>
                  </a:lnTo>
                  <a:lnTo>
                    <a:pt x="314198" y="262559"/>
                  </a:lnTo>
                  <a:lnTo>
                    <a:pt x="368300" y="282943"/>
                  </a:lnTo>
                  <a:lnTo>
                    <a:pt x="401955" y="285673"/>
                  </a:lnTo>
                  <a:lnTo>
                    <a:pt x="425577" y="284556"/>
                  </a:lnTo>
                  <a:lnTo>
                    <a:pt x="472948" y="273367"/>
                  </a:lnTo>
                  <a:lnTo>
                    <a:pt x="463423" y="224523"/>
                  </a:lnTo>
                  <a:lnTo>
                    <a:pt x="452755" y="228015"/>
                  </a:lnTo>
                  <a:lnTo>
                    <a:pt x="439928" y="230873"/>
                  </a:lnTo>
                  <a:lnTo>
                    <a:pt x="425704" y="232829"/>
                  </a:lnTo>
                  <a:lnTo>
                    <a:pt x="411353" y="233553"/>
                  </a:lnTo>
                  <a:lnTo>
                    <a:pt x="380746" y="229476"/>
                  </a:lnTo>
                  <a:lnTo>
                    <a:pt x="356108" y="217716"/>
                  </a:lnTo>
                  <a:lnTo>
                    <a:pt x="337947" y="198970"/>
                  </a:lnTo>
                  <a:lnTo>
                    <a:pt x="326644" y="173913"/>
                  </a:lnTo>
                  <a:lnTo>
                    <a:pt x="322834" y="143243"/>
                  </a:lnTo>
                  <a:lnTo>
                    <a:pt x="327152" y="110083"/>
                  </a:lnTo>
                  <a:lnTo>
                    <a:pt x="339598" y="84429"/>
                  </a:lnTo>
                  <a:lnTo>
                    <a:pt x="358521" y="66192"/>
                  </a:lnTo>
                  <a:lnTo>
                    <a:pt x="382778" y="55308"/>
                  </a:lnTo>
                  <a:lnTo>
                    <a:pt x="410972" y="51701"/>
                  </a:lnTo>
                  <a:lnTo>
                    <a:pt x="426720" y="52552"/>
                  </a:lnTo>
                  <a:lnTo>
                    <a:pt x="440817" y="54838"/>
                  </a:lnTo>
                  <a:lnTo>
                    <a:pt x="453009" y="58127"/>
                  </a:lnTo>
                  <a:lnTo>
                    <a:pt x="463423" y="61988"/>
                  </a:lnTo>
                  <a:lnTo>
                    <a:pt x="476250" y="123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9" name="Google Shape;99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14525" y="6134101"/>
              <a:ext cx="66675" cy="666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" name="Google Shape;100;p10"/>
          <p:cNvSpPr/>
          <p:nvPr/>
        </p:nvSpPr>
        <p:spPr>
          <a:xfrm>
            <a:off x="10820400" y="400062"/>
            <a:ext cx="1362075" cy="638175"/>
          </a:xfrm>
          <a:custGeom>
            <a:rect b="b" l="l" r="r" t="t"/>
            <a:pathLst>
              <a:path extrusionOk="0" h="638175" w="1362075">
                <a:moveTo>
                  <a:pt x="1362075" y="0"/>
                </a:moveTo>
                <a:lnTo>
                  <a:pt x="0" y="0"/>
                </a:lnTo>
                <a:lnTo>
                  <a:pt x="0" y="637908"/>
                </a:lnTo>
                <a:lnTo>
                  <a:pt x="1362075" y="637908"/>
                </a:lnTo>
                <a:lnTo>
                  <a:pt x="1362075" y="0"/>
                </a:lnTo>
                <a:close/>
              </a:path>
            </a:pathLst>
          </a:custGeom>
          <a:solidFill>
            <a:srgbClr val="247BE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8200" y="0"/>
            <a:ext cx="25336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0"/>
          <p:cNvSpPr txBox="1"/>
          <p:nvPr/>
        </p:nvSpPr>
        <p:spPr>
          <a:xfrm>
            <a:off x="120450" y="1208300"/>
            <a:ext cx="92400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¿Qué es SMGAT?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lang="en-US">
                <a:solidFill>
                  <a:schemeClr val="lt1"/>
                </a:solidFill>
              </a:rPr>
              <a:t>Es una </a:t>
            </a:r>
            <a:r>
              <a:rPr b="1" lang="en-US">
                <a:solidFill>
                  <a:schemeClr val="lt1"/>
                </a:solidFill>
              </a:rPr>
              <a:t>plataforma digital única</a:t>
            </a:r>
            <a:r>
              <a:rPr lang="en-US">
                <a:solidFill>
                  <a:schemeClr val="lt1"/>
                </a:solidFill>
              </a:rPr>
              <a:t> que junta los trámites de la PDI, el SAG y la Aduana en un solo lugar.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¿Cómo funciona para el usuario?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Carga rápida:</a:t>
            </a:r>
            <a:r>
              <a:rPr lang="en-US">
                <a:solidFill>
                  <a:schemeClr val="lt1"/>
                </a:solidFill>
              </a:rPr>
              <a:t> El turista escanea su carnet (con tecnología OCR) y llena sus declaraciones desde el celular o en un tótem antes de llegar a la garita.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Todo en un QR:</a:t>
            </a:r>
            <a:r>
              <a:rPr lang="en-US">
                <a:solidFill>
                  <a:schemeClr val="lt1"/>
                </a:solidFill>
              </a:rPr>
              <a:t> El sistema procesa los datos y genera un </a:t>
            </a:r>
            <a:r>
              <a:rPr b="1" lang="en-US">
                <a:solidFill>
                  <a:schemeClr val="lt1"/>
                </a:solidFill>
              </a:rPr>
              <a:t>único código QR</a:t>
            </a:r>
            <a:r>
              <a:rPr lang="en-US">
                <a:solidFill>
                  <a:schemeClr val="lt1"/>
                </a:solidFill>
              </a:rPr>
              <a:t> con toda la información del viaje.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¿Por qué es un sistema seguro y confiable?</a:t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Evita errores:</a:t>
            </a:r>
            <a:r>
              <a:rPr lang="en-US">
                <a:solidFill>
                  <a:schemeClr val="lt1"/>
                </a:solidFill>
              </a:rPr>
              <a:t> El sistema valida los datos en tiempo real (por ejemplo, bloquea el avance si se ingresa un RUT falso).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Funciona sin internet:</a:t>
            </a:r>
            <a:r>
              <a:rPr lang="en-US">
                <a:solidFill>
                  <a:schemeClr val="lt1"/>
                </a:solidFill>
              </a:rPr>
              <a:t> Si se corta la red en la cordillera por el clima, la app sigue operando de forma local (</a:t>
            </a:r>
            <a:r>
              <a:rPr b="1" lang="en-US">
                <a:solidFill>
                  <a:schemeClr val="lt1"/>
                </a:solidFill>
              </a:rPr>
              <a:t>Modo Offline</a:t>
            </a:r>
            <a:r>
              <a:rPr lang="en-US">
                <a:solidFill>
                  <a:schemeClr val="lt1"/>
                </a:solidFill>
              </a:rPr>
              <a:t>) y guarda todo sin perder datos.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 txBox="1"/>
          <p:nvPr/>
        </p:nvSpPr>
        <p:spPr>
          <a:xfrm>
            <a:off x="120450" y="62650"/>
            <a:ext cx="66171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</a:rPr>
              <a:t>Propuesta de solución</a:t>
            </a:r>
            <a:r>
              <a:rPr lang="en-US" sz="4000">
                <a:solidFill>
                  <a:schemeClr val="lt1"/>
                </a:solidFill>
              </a:rPr>
              <a:t>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469265" y="212090"/>
            <a:ext cx="112536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9748" y="802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 txBox="1"/>
          <p:nvPr/>
        </p:nvSpPr>
        <p:spPr>
          <a:xfrm>
            <a:off x="157050" y="1067975"/>
            <a:ext cx="2607000" cy="52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El Prototipo desde el lado del Turista </a:t>
            </a:r>
            <a:endParaRPr sz="1300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</a:pPr>
            <a:r>
              <a:rPr b="1" lang="en-US">
                <a:solidFill>
                  <a:schemeClr val="lt2"/>
                </a:solidFill>
              </a:rPr>
              <a:t>Perfil: Turista / Viajero:</a:t>
            </a:r>
            <a:endParaRPr b="1">
              <a:solidFill>
                <a:schemeClr val="lt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2"/>
                </a:solidFill>
              </a:rPr>
              <a:t>(Datos):</a:t>
            </a:r>
            <a:r>
              <a:rPr lang="en-US">
                <a:solidFill>
                  <a:schemeClr val="lt2"/>
                </a:solidFill>
              </a:rPr>
              <a:t> El usuario ingresa al sistema por primera vez  y crea una cuenta , se registra con su nombre completo, RUN/pasaporte, Correo </a:t>
            </a:r>
            <a:r>
              <a:rPr lang="en-US">
                <a:solidFill>
                  <a:schemeClr val="lt2"/>
                </a:solidFill>
              </a:rPr>
              <a:t>electrónico y crear una contraseña.</a:t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 txBox="1"/>
          <p:nvPr/>
        </p:nvSpPr>
        <p:spPr>
          <a:xfrm>
            <a:off x="104700" y="83750"/>
            <a:ext cx="5779500" cy="5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Muestra del prototipo:  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0175" y="816750"/>
            <a:ext cx="3120125" cy="571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1"/>
          <p:cNvSpPr txBox="1"/>
          <p:nvPr/>
        </p:nvSpPr>
        <p:spPr>
          <a:xfrm>
            <a:off x="6721900" y="900500"/>
            <a:ext cx="2271900" cy="22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(Declaración SAG y Aduana):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detalla bien que llevas para declarar si trae equipaje extra, comida , animales,entre otras.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1875" y="743375"/>
            <a:ext cx="3120125" cy="58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/>
        </p:nvSpPr>
        <p:spPr>
          <a:xfrm>
            <a:off x="340042" y="1526222"/>
            <a:ext cx="54084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015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9901" y="2086751"/>
            <a:ext cx="2682675" cy="470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950" y="1113299"/>
            <a:ext cx="3497050" cy="310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1250" y="1041400"/>
            <a:ext cx="2795500" cy="49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 txBox="1"/>
          <p:nvPr/>
        </p:nvSpPr>
        <p:spPr>
          <a:xfrm>
            <a:off x="83750" y="1486775"/>
            <a:ext cx="1947600" cy="4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Optimización del ingreso de datos mediante la automatización del perfil del viajero y su transporte.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Identidad Digital</a:t>
            </a:r>
            <a:r>
              <a:rPr b="1" lang="en-US" sz="1100">
                <a:solidFill>
                  <a:schemeClr val="lt1"/>
                </a:solidFill>
              </a:rPr>
              <a:t> </a:t>
            </a:r>
            <a:r>
              <a:rPr b="1" lang="en-US" sz="1100">
                <a:solidFill>
                  <a:schemeClr val="lt1"/>
                </a:solidFill>
              </a:rPr>
              <a:t>Automatizada:</a:t>
            </a:r>
            <a:r>
              <a:rPr lang="en-US" sz="1100">
                <a:solidFill>
                  <a:schemeClr val="lt1"/>
                </a:solidFill>
              </a:rPr>
              <a:t> Escaneo de Cédula/Pasaporte  para extraer de forma automática el nombre, RUT y nacionalidad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5287475" y="193025"/>
            <a:ext cx="3025800" cy="13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Clasificación del Vehículo:</a:t>
            </a:r>
            <a:r>
              <a:rPr lang="en-US" sz="1100">
                <a:solidFill>
                  <a:schemeClr val="lt1"/>
                </a:solidFill>
              </a:rPr>
              <a:t> Selección del tipo de ingreso (</a:t>
            </a:r>
            <a:r>
              <a:rPr i="1" lang="en-US" sz="1100">
                <a:solidFill>
                  <a:schemeClr val="lt1"/>
                </a:solidFill>
              </a:rPr>
              <a:t>Particular</a:t>
            </a:r>
            <a:r>
              <a:rPr lang="en-US" sz="1100">
                <a:solidFill>
                  <a:schemeClr val="lt1"/>
                </a:solidFill>
              </a:rPr>
              <a:t> o </a:t>
            </a:r>
            <a:r>
              <a:rPr i="1" lang="en-US" sz="1100">
                <a:solidFill>
                  <a:schemeClr val="lt1"/>
                </a:solidFill>
              </a:rPr>
              <a:t>Diplomático</a:t>
            </a:r>
            <a:r>
              <a:rPr lang="en-US" sz="1100">
                <a:solidFill>
                  <a:schemeClr val="lt1"/>
                </a:solidFill>
              </a:rPr>
              <a:t>) para adaptar los requisitos aduaneros. 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9391800" y="376925"/>
            <a:ext cx="25338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Control de Transporte:</a:t>
            </a:r>
            <a:r>
              <a:rPr lang="en-US" sz="1100">
                <a:solidFill>
                  <a:schemeClr val="lt1"/>
                </a:solidFill>
              </a:rPr>
              <a:t> Captura ágil de datos obligatorios </a:t>
            </a:r>
            <a:r>
              <a:rPr b="1" lang="en-US" sz="1100">
                <a:solidFill>
                  <a:schemeClr val="lt1"/>
                </a:solidFill>
              </a:rPr>
              <a:t>Patente y Chasis.</a:t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Copilotos y Equipaje:</a:t>
            </a:r>
            <a:r>
              <a:rPr lang="en-US" sz="1100">
                <a:solidFill>
                  <a:schemeClr val="lt1"/>
                </a:solidFill>
              </a:rPr>
              <a:t> Opción de registrar un segundo chofer (con validación de RUT) y pre-clasificar el tipo de carga en el maletero.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073763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type="title"/>
          </p:nvPr>
        </p:nvSpPr>
        <p:spPr>
          <a:xfrm>
            <a:off x="347620" y="258191"/>
            <a:ext cx="44271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latin typeface="Arial"/>
                <a:ea typeface="Arial"/>
                <a:cs typeface="Arial"/>
                <a:sym typeface="Arial"/>
              </a:rPr>
              <a:t>Muestra del prototipo</a:t>
            </a:r>
            <a:endParaRPr sz="2600"/>
          </a:p>
        </p:txBody>
      </p:sp>
      <p:sp>
        <p:nvSpPr>
          <p:cNvPr id="131" name="Google Shape;131;p13"/>
          <p:cNvSpPr txBox="1"/>
          <p:nvPr/>
        </p:nvSpPr>
        <p:spPr>
          <a:xfrm>
            <a:off x="125650" y="1779950"/>
            <a:ext cx="2240700" cy="4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Paso 3 (Control de Riesgo): El sistema procesa los datos guardados por el turista, hace una auditoría interna y le avisa al funcionario si el auto quedó en Canal Verde (pasa directo) o Canal Rojo (inspección física obligatoria) 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625" y="1721172"/>
            <a:ext cx="2663925" cy="4685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0550" y="1698887"/>
            <a:ext cx="2599850" cy="472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7873600" y="0"/>
            <a:ext cx="4318500" cy="6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🔴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Canal Rojo: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Significa:</a:t>
            </a:r>
            <a:r>
              <a:rPr lang="en-US" sz="1100">
                <a:solidFill>
                  <a:schemeClr val="lt1"/>
                </a:solidFill>
              </a:rPr>
              <a:t> Inspección Física Obligatoria.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¿Por qué sale?:</a:t>
            </a:r>
            <a:r>
              <a:rPr lang="en-US" sz="1100">
                <a:solidFill>
                  <a:schemeClr val="lt1"/>
                </a:solidFill>
              </a:rPr>
              <a:t> Porque el turista declaró que trae algo (frutas, comida, exceso de equipaje) o por un control aleatorio del sistema. El funcionario </a:t>
            </a:r>
            <a:r>
              <a:rPr b="1" lang="en-US" sz="1100">
                <a:solidFill>
                  <a:schemeClr val="lt1"/>
                </a:solidFill>
              </a:rPr>
              <a:t>debe revisar el auto</a:t>
            </a:r>
            <a:r>
              <a:rPr lang="en-US" sz="1100">
                <a:solidFill>
                  <a:schemeClr val="lt1"/>
                </a:solidFill>
              </a:rPr>
              <a:t>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lt1"/>
                </a:solidFill>
              </a:rPr>
              <a:t>🟢 Canal Verde: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Significa:</a:t>
            </a:r>
            <a:r>
              <a:rPr lang="en-US" sz="1100">
                <a:solidFill>
                  <a:schemeClr val="lt1"/>
                </a:solidFill>
              </a:rPr>
              <a:t> Paso Directo Autorizado.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-US" sz="1100">
                <a:solidFill>
                  <a:schemeClr val="lt1"/>
                </a:solidFill>
              </a:rPr>
              <a:t>¿Por qué sale?:</a:t>
            </a:r>
            <a:r>
              <a:rPr lang="en-US" sz="1100">
                <a:solidFill>
                  <a:schemeClr val="lt1"/>
                </a:solidFill>
              </a:rPr>
              <a:t> Porque el turista declaró que no trae nada prohibido y pasó los filtros de seguridad. El auto </a:t>
            </a:r>
            <a:r>
              <a:rPr b="1" lang="en-US" sz="1100">
                <a:solidFill>
                  <a:schemeClr val="lt1"/>
                </a:solidFill>
              </a:rPr>
              <a:t>pasa de inmediato.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1895" y="1848550"/>
            <a:ext cx="41624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06088" y="5413025"/>
            <a:ext cx="3914050" cy="136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14"/>
          <p:cNvGrpSpPr/>
          <p:nvPr/>
        </p:nvGrpSpPr>
        <p:grpSpPr>
          <a:xfrm>
            <a:off x="438150" y="6191250"/>
            <a:ext cx="961897" cy="304558"/>
            <a:chOff x="438150" y="6191250"/>
            <a:chExt cx="961897" cy="304558"/>
          </a:xfrm>
        </p:grpSpPr>
        <p:sp>
          <p:nvSpPr>
            <p:cNvPr id="143" name="Google Shape;143;p14"/>
            <p:cNvSpPr/>
            <p:nvPr/>
          </p:nvSpPr>
          <p:spPr>
            <a:xfrm>
              <a:off x="438150" y="6191250"/>
              <a:ext cx="269875" cy="302895"/>
            </a:xfrm>
            <a:custGeom>
              <a:rect b="b" l="l" r="r" t="t"/>
              <a:pathLst>
                <a:path extrusionOk="0" h="302895" w="269875">
                  <a:moveTo>
                    <a:pt x="92633" y="0"/>
                  </a:moveTo>
                  <a:lnTo>
                    <a:pt x="67221" y="406"/>
                  </a:lnTo>
                  <a:lnTo>
                    <a:pt x="42926" y="1651"/>
                  </a:lnTo>
                  <a:lnTo>
                    <a:pt x="20320" y="3721"/>
                  </a:lnTo>
                  <a:lnTo>
                    <a:pt x="0" y="6616"/>
                  </a:lnTo>
                  <a:lnTo>
                    <a:pt x="0" y="298373"/>
                  </a:lnTo>
                  <a:lnTo>
                    <a:pt x="14249" y="299999"/>
                  </a:lnTo>
                  <a:lnTo>
                    <a:pt x="31965" y="301409"/>
                  </a:lnTo>
                  <a:lnTo>
                    <a:pt x="53251" y="302412"/>
                  </a:lnTo>
                  <a:lnTo>
                    <a:pt x="78168" y="302780"/>
                  </a:lnTo>
                  <a:lnTo>
                    <a:pt x="109996" y="301409"/>
                  </a:lnTo>
                  <a:lnTo>
                    <a:pt x="111848" y="301409"/>
                  </a:lnTo>
                  <a:lnTo>
                    <a:pt x="172847" y="289153"/>
                  </a:lnTo>
                  <a:lnTo>
                    <a:pt x="219151" y="264388"/>
                  </a:lnTo>
                  <a:lnTo>
                    <a:pt x="233207" y="250266"/>
                  </a:lnTo>
                  <a:lnTo>
                    <a:pt x="87461" y="250266"/>
                  </a:lnTo>
                  <a:lnTo>
                    <a:pt x="79806" y="250101"/>
                  </a:lnTo>
                  <a:lnTo>
                    <a:pt x="73748" y="249694"/>
                  </a:lnTo>
                  <a:lnTo>
                    <a:pt x="68668" y="248932"/>
                  </a:lnTo>
                  <a:lnTo>
                    <a:pt x="68668" y="54279"/>
                  </a:lnTo>
                  <a:lnTo>
                    <a:pt x="73926" y="53314"/>
                  </a:lnTo>
                  <a:lnTo>
                    <a:pt x="80873" y="52463"/>
                  </a:lnTo>
                  <a:lnTo>
                    <a:pt x="89522" y="51866"/>
                  </a:lnTo>
                  <a:lnTo>
                    <a:pt x="99860" y="51638"/>
                  </a:lnTo>
                  <a:lnTo>
                    <a:pt x="196557" y="51638"/>
                  </a:lnTo>
                  <a:lnTo>
                    <a:pt x="196557" y="18326"/>
                  </a:lnTo>
                  <a:lnTo>
                    <a:pt x="194233" y="16941"/>
                  </a:lnTo>
                  <a:lnTo>
                    <a:pt x="166217" y="7340"/>
                  </a:lnTo>
                  <a:lnTo>
                    <a:pt x="132702" y="1790"/>
                  </a:lnTo>
                  <a:lnTo>
                    <a:pt x="92633" y="0"/>
                  </a:lnTo>
                  <a:close/>
                </a:path>
                <a:path extrusionOk="0" h="302895" w="269875">
                  <a:moveTo>
                    <a:pt x="196557" y="18326"/>
                  </a:moveTo>
                  <a:lnTo>
                    <a:pt x="196557" y="146088"/>
                  </a:lnTo>
                  <a:lnTo>
                    <a:pt x="193217" y="178523"/>
                  </a:lnTo>
                  <a:lnTo>
                    <a:pt x="168135" y="224993"/>
                  </a:lnTo>
                  <a:lnTo>
                    <a:pt x="122135" y="247637"/>
                  </a:lnTo>
                  <a:lnTo>
                    <a:pt x="92633" y="250266"/>
                  </a:lnTo>
                  <a:lnTo>
                    <a:pt x="233207" y="250266"/>
                  </a:lnTo>
                  <a:lnTo>
                    <a:pt x="259969" y="203911"/>
                  </a:lnTo>
                  <a:lnTo>
                    <a:pt x="269290" y="143890"/>
                  </a:lnTo>
                  <a:lnTo>
                    <a:pt x="265684" y="107111"/>
                  </a:lnTo>
                  <a:lnTo>
                    <a:pt x="255397" y="76123"/>
                  </a:lnTo>
                  <a:lnTo>
                    <a:pt x="239179" y="50774"/>
                  </a:lnTo>
                  <a:lnTo>
                    <a:pt x="217804" y="30886"/>
                  </a:lnTo>
                  <a:lnTo>
                    <a:pt x="196557" y="18326"/>
                  </a:lnTo>
                  <a:close/>
                </a:path>
                <a:path extrusionOk="0" h="302895" w="269875">
                  <a:moveTo>
                    <a:pt x="196557" y="51638"/>
                  </a:moveTo>
                  <a:lnTo>
                    <a:pt x="99860" y="51638"/>
                  </a:lnTo>
                  <a:lnTo>
                    <a:pt x="128694" y="54279"/>
                  </a:lnTo>
                  <a:lnTo>
                    <a:pt x="127997" y="54279"/>
                  </a:lnTo>
                  <a:lnTo>
                    <a:pt x="170573" y="74866"/>
                  </a:lnTo>
                  <a:lnTo>
                    <a:pt x="193522" y="116878"/>
                  </a:lnTo>
                  <a:lnTo>
                    <a:pt x="196557" y="146088"/>
                  </a:lnTo>
                  <a:lnTo>
                    <a:pt x="196557" y="516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4" name="Google Shape;144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2294" y="6275108"/>
              <a:ext cx="211010" cy="22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6698" y="6270256"/>
              <a:ext cx="230873" cy="225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21105" y="6270256"/>
              <a:ext cx="178942" cy="2255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4"/>
          <p:cNvGrpSpPr/>
          <p:nvPr/>
        </p:nvGrpSpPr>
        <p:grpSpPr>
          <a:xfrm>
            <a:off x="1466850" y="6134101"/>
            <a:ext cx="514350" cy="361948"/>
            <a:chOff x="1466850" y="6134101"/>
            <a:chExt cx="514350" cy="361948"/>
          </a:xfrm>
        </p:grpSpPr>
        <p:sp>
          <p:nvSpPr>
            <p:cNvPr id="148" name="Google Shape;148;p14"/>
            <p:cNvSpPr/>
            <p:nvPr/>
          </p:nvSpPr>
          <p:spPr>
            <a:xfrm>
              <a:off x="1466850" y="6210299"/>
              <a:ext cx="476250" cy="285750"/>
            </a:xfrm>
            <a:custGeom>
              <a:rect b="b" l="l" r="r" t="t"/>
              <a:pathLst>
                <a:path extrusionOk="0" h="285750" w="476250">
                  <a:moveTo>
                    <a:pt x="228346" y="0"/>
                  </a:moveTo>
                  <a:lnTo>
                    <a:pt x="165354" y="0"/>
                  </a:lnTo>
                  <a:lnTo>
                    <a:pt x="165354" y="161823"/>
                  </a:lnTo>
                  <a:lnTo>
                    <a:pt x="161925" y="194183"/>
                  </a:lnTo>
                  <a:lnTo>
                    <a:pt x="152019" y="216941"/>
                  </a:lnTo>
                  <a:lnTo>
                    <a:pt x="136017" y="230403"/>
                  </a:lnTo>
                  <a:lnTo>
                    <a:pt x="113919" y="234835"/>
                  </a:lnTo>
                  <a:lnTo>
                    <a:pt x="92456" y="230225"/>
                  </a:lnTo>
                  <a:lnTo>
                    <a:pt x="76581" y="216484"/>
                  </a:lnTo>
                  <a:lnTo>
                    <a:pt x="66802" y="193649"/>
                  </a:lnTo>
                  <a:lnTo>
                    <a:pt x="63373" y="161823"/>
                  </a:lnTo>
                  <a:lnTo>
                    <a:pt x="63373" y="0"/>
                  </a:lnTo>
                  <a:lnTo>
                    <a:pt x="0" y="0"/>
                  </a:lnTo>
                  <a:lnTo>
                    <a:pt x="0" y="156832"/>
                  </a:lnTo>
                  <a:lnTo>
                    <a:pt x="2540" y="192214"/>
                  </a:lnTo>
                  <a:lnTo>
                    <a:pt x="21844" y="245211"/>
                  </a:lnTo>
                  <a:lnTo>
                    <a:pt x="58928" y="275856"/>
                  </a:lnTo>
                  <a:lnTo>
                    <a:pt x="111887" y="285724"/>
                  </a:lnTo>
                  <a:lnTo>
                    <a:pt x="141224" y="283184"/>
                  </a:lnTo>
                  <a:lnTo>
                    <a:pt x="188341" y="262636"/>
                  </a:lnTo>
                  <a:lnTo>
                    <a:pt x="217932" y="220992"/>
                  </a:lnTo>
                  <a:lnTo>
                    <a:pt x="228346" y="157670"/>
                  </a:lnTo>
                  <a:lnTo>
                    <a:pt x="228346" y="0"/>
                  </a:lnTo>
                  <a:close/>
                </a:path>
                <a:path extrusionOk="0" h="285750" w="476250">
                  <a:moveTo>
                    <a:pt x="476250" y="12306"/>
                  </a:moveTo>
                  <a:lnTo>
                    <a:pt x="465455" y="7962"/>
                  </a:lnTo>
                  <a:lnTo>
                    <a:pt x="450088" y="4000"/>
                  </a:lnTo>
                  <a:lnTo>
                    <a:pt x="430911" y="1117"/>
                  </a:lnTo>
                  <a:lnTo>
                    <a:pt x="408051" y="0"/>
                  </a:lnTo>
                  <a:lnTo>
                    <a:pt x="380873" y="1930"/>
                  </a:lnTo>
                  <a:lnTo>
                    <a:pt x="331851" y="17119"/>
                  </a:lnTo>
                  <a:lnTo>
                    <a:pt x="292608" y="46812"/>
                  </a:lnTo>
                  <a:lnTo>
                    <a:pt x="266573" y="90322"/>
                  </a:lnTo>
                  <a:lnTo>
                    <a:pt x="257175" y="146951"/>
                  </a:lnTo>
                  <a:lnTo>
                    <a:pt x="259461" y="175526"/>
                  </a:lnTo>
                  <a:lnTo>
                    <a:pt x="277749" y="225475"/>
                  </a:lnTo>
                  <a:lnTo>
                    <a:pt x="314198" y="262559"/>
                  </a:lnTo>
                  <a:lnTo>
                    <a:pt x="368300" y="282943"/>
                  </a:lnTo>
                  <a:lnTo>
                    <a:pt x="401955" y="285673"/>
                  </a:lnTo>
                  <a:lnTo>
                    <a:pt x="425577" y="284556"/>
                  </a:lnTo>
                  <a:lnTo>
                    <a:pt x="472948" y="273367"/>
                  </a:lnTo>
                  <a:lnTo>
                    <a:pt x="463423" y="224523"/>
                  </a:lnTo>
                  <a:lnTo>
                    <a:pt x="452755" y="228015"/>
                  </a:lnTo>
                  <a:lnTo>
                    <a:pt x="439928" y="230873"/>
                  </a:lnTo>
                  <a:lnTo>
                    <a:pt x="425704" y="232829"/>
                  </a:lnTo>
                  <a:lnTo>
                    <a:pt x="411353" y="233553"/>
                  </a:lnTo>
                  <a:lnTo>
                    <a:pt x="380746" y="229476"/>
                  </a:lnTo>
                  <a:lnTo>
                    <a:pt x="356108" y="217716"/>
                  </a:lnTo>
                  <a:lnTo>
                    <a:pt x="337947" y="198970"/>
                  </a:lnTo>
                  <a:lnTo>
                    <a:pt x="326644" y="173913"/>
                  </a:lnTo>
                  <a:lnTo>
                    <a:pt x="322834" y="143243"/>
                  </a:lnTo>
                  <a:lnTo>
                    <a:pt x="327152" y="110083"/>
                  </a:lnTo>
                  <a:lnTo>
                    <a:pt x="339598" y="84429"/>
                  </a:lnTo>
                  <a:lnTo>
                    <a:pt x="358521" y="66192"/>
                  </a:lnTo>
                  <a:lnTo>
                    <a:pt x="382778" y="55308"/>
                  </a:lnTo>
                  <a:lnTo>
                    <a:pt x="410972" y="51701"/>
                  </a:lnTo>
                  <a:lnTo>
                    <a:pt x="426720" y="52552"/>
                  </a:lnTo>
                  <a:lnTo>
                    <a:pt x="440817" y="54838"/>
                  </a:lnTo>
                  <a:lnTo>
                    <a:pt x="453009" y="58127"/>
                  </a:lnTo>
                  <a:lnTo>
                    <a:pt x="463423" y="61988"/>
                  </a:lnTo>
                  <a:lnTo>
                    <a:pt x="476250" y="123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9" name="Google Shape;149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14525" y="6134101"/>
              <a:ext cx="66675" cy="666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0" name="Google Shape;150;p14"/>
          <p:cNvSpPr txBox="1"/>
          <p:nvPr/>
        </p:nvSpPr>
        <p:spPr>
          <a:xfrm>
            <a:off x="177172" y="248234"/>
            <a:ext cx="5952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Muestra del prototipo</a:t>
            </a:r>
            <a:endParaRPr sz="4000">
              <a:solidFill>
                <a:schemeClr val="lt1"/>
              </a:solidFill>
            </a:endParaRPr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8350" y="0"/>
            <a:ext cx="25336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 txBox="1"/>
          <p:nvPr/>
        </p:nvSpPr>
        <p:spPr>
          <a:xfrm>
            <a:off x="335050" y="1518175"/>
            <a:ext cx="4952400" cy="30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Paso 4 (Cierre del Trámite y Validación):</a:t>
            </a:r>
            <a:endParaRPr b="1"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Comprobante Digital:</a:t>
            </a:r>
            <a:r>
              <a:rPr lang="en-US">
                <a:solidFill>
                  <a:schemeClr val="lt1"/>
                </a:solidFill>
              </a:rPr>
              <a:t> El usuario recibe en su celular la pantalla de </a:t>
            </a:r>
            <a:r>
              <a:rPr b="1" lang="en-US">
                <a:solidFill>
                  <a:schemeClr val="lt1"/>
                </a:solidFill>
              </a:rPr>
              <a:t>Declaración Exitosa.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Código QR Único:</a:t>
            </a:r>
            <a:r>
              <a:rPr lang="en-US">
                <a:solidFill>
                  <a:schemeClr val="lt1"/>
                </a:solidFill>
              </a:rPr>
              <a:t> Se genera un código y un identificador único que junta los datos aprobados de la PDI, el SAG y la Aduana.</a:t>
            </a:r>
            <a:endParaRPr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</a:pPr>
            <a:r>
              <a:rPr b="1" lang="en-US">
                <a:solidFill>
                  <a:schemeClr val="lt1"/>
                </a:solidFill>
              </a:rPr>
              <a:t>Control en Garita:</a:t>
            </a:r>
            <a:r>
              <a:rPr lang="en-US">
                <a:solidFill>
                  <a:schemeClr val="lt1"/>
                </a:solidFill>
              </a:rPr>
              <a:t> El funcionario escanea el QR desde el celular del turista, confirma el Canal Asignado en un segundo y levanta la barrera automáticamente.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87450" y="312600"/>
            <a:ext cx="3832100" cy="65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/>
        </p:nvSpPr>
        <p:spPr>
          <a:xfrm>
            <a:off x="532125" y="1518174"/>
            <a:ext cx="8838600" cy="58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Reducción del tiempo de espera: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US" sz="1700">
                <a:solidFill>
                  <a:schemeClr val="lt1"/>
                </a:solidFill>
              </a:rPr>
              <a:t>El sistema demuestra que es posible disminuir los tiempos de atención en la frontera (de rangos de 8 a 20 horas) a solo minutos mediante la digitalización del proceso.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Unificación de trámites: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US" sz="1700">
                <a:solidFill>
                  <a:schemeClr val="lt1"/>
                </a:solidFill>
              </a:rPr>
              <a:t>Se logró integrar el flujo de datos de la PDI, el SAG y la Aduana en una sola plataforma, eliminando el papeleo repetitivo a través de un código QR único.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</a:rPr>
              <a:t>Solución viable y segura:</a:t>
            </a:r>
            <a:endParaRPr b="1" sz="1700">
              <a:solidFill>
                <a:schemeClr val="lt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-US" sz="1700">
                <a:solidFill>
                  <a:schemeClr val="lt1"/>
                </a:solidFill>
              </a:rPr>
              <a:t>El prototipo cumple con los estándares de calidad requeridos, demostrando ser una herramienta eficiente, escalable y adaptada a las condiciones del Paso Los Libertadores.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8350" y="0"/>
            <a:ext cx="2533650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1540875" y="129850"/>
            <a:ext cx="59871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274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6"/>
          <p:cNvGrpSpPr/>
          <p:nvPr/>
        </p:nvGrpSpPr>
        <p:grpSpPr>
          <a:xfrm>
            <a:off x="438150" y="6191250"/>
            <a:ext cx="961897" cy="304558"/>
            <a:chOff x="438150" y="6191250"/>
            <a:chExt cx="961897" cy="304558"/>
          </a:xfrm>
        </p:grpSpPr>
        <p:sp>
          <p:nvSpPr>
            <p:cNvPr id="167" name="Google Shape;167;p16"/>
            <p:cNvSpPr/>
            <p:nvPr/>
          </p:nvSpPr>
          <p:spPr>
            <a:xfrm>
              <a:off x="438150" y="6191250"/>
              <a:ext cx="269875" cy="302895"/>
            </a:xfrm>
            <a:custGeom>
              <a:rect b="b" l="l" r="r" t="t"/>
              <a:pathLst>
                <a:path extrusionOk="0" h="302895" w="269875">
                  <a:moveTo>
                    <a:pt x="92633" y="0"/>
                  </a:moveTo>
                  <a:lnTo>
                    <a:pt x="67221" y="406"/>
                  </a:lnTo>
                  <a:lnTo>
                    <a:pt x="42926" y="1651"/>
                  </a:lnTo>
                  <a:lnTo>
                    <a:pt x="20320" y="3721"/>
                  </a:lnTo>
                  <a:lnTo>
                    <a:pt x="0" y="6616"/>
                  </a:lnTo>
                  <a:lnTo>
                    <a:pt x="0" y="298373"/>
                  </a:lnTo>
                  <a:lnTo>
                    <a:pt x="14249" y="299999"/>
                  </a:lnTo>
                  <a:lnTo>
                    <a:pt x="31965" y="301409"/>
                  </a:lnTo>
                  <a:lnTo>
                    <a:pt x="53251" y="302412"/>
                  </a:lnTo>
                  <a:lnTo>
                    <a:pt x="78168" y="302780"/>
                  </a:lnTo>
                  <a:lnTo>
                    <a:pt x="109996" y="301409"/>
                  </a:lnTo>
                  <a:lnTo>
                    <a:pt x="111848" y="301409"/>
                  </a:lnTo>
                  <a:lnTo>
                    <a:pt x="172847" y="289153"/>
                  </a:lnTo>
                  <a:lnTo>
                    <a:pt x="219151" y="264388"/>
                  </a:lnTo>
                  <a:lnTo>
                    <a:pt x="233207" y="250266"/>
                  </a:lnTo>
                  <a:lnTo>
                    <a:pt x="87461" y="250266"/>
                  </a:lnTo>
                  <a:lnTo>
                    <a:pt x="79806" y="250101"/>
                  </a:lnTo>
                  <a:lnTo>
                    <a:pt x="73748" y="249694"/>
                  </a:lnTo>
                  <a:lnTo>
                    <a:pt x="68668" y="248932"/>
                  </a:lnTo>
                  <a:lnTo>
                    <a:pt x="68668" y="54279"/>
                  </a:lnTo>
                  <a:lnTo>
                    <a:pt x="73926" y="53314"/>
                  </a:lnTo>
                  <a:lnTo>
                    <a:pt x="80873" y="52463"/>
                  </a:lnTo>
                  <a:lnTo>
                    <a:pt x="89522" y="51866"/>
                  </a:lnTo>
                  <a:lnTo>
                    <a:pt x="99860" y="51638"/>
                  </a:lnTo>
                  <a:lnTo>
                    <a:pt x="196557" y="51638"/>
                  </a:lnTo>
                  <a:lnTo>
                    <a:pt x="196557" y="18326"/>
                  </a:lnTo>
                  <a:lnTo>
                    <a:pt x="194233" y="16941"/>
                  </a:lnTo>
                  <a:lnTo>
                    <a:pt x="166217" y="7340"/>
                  </a:lnTo>
                  <a:lnTo>
                    <a:pt x="132702" y="1790"/>
                  </a:lnTo>
                  <a:lnTo>
                    <a:pt x="92633" y="0"/>
                  </a:lnTo>
                  <a:close/>
                </a:path>
                <a:path extrusionOk="0" h="302895" w="269875">
                  <a:moveTo>
                    <a:pt x="196557" y="18326"/>
                  </a:moveTo>
                  <a:lnTo>
                    <a:pt x="196557" y="146088"/>
                  </a:lnTo>
                  <a:lnTo>
                    <a:pt x="193217" y="178523"/>
                  </a:lnTo>
                  <a:lnTo>
                    <a:pt x="168135" y="224993"/>
                  </a:lnTo>
                  <a:lnTo>
                    <a:pt x="122135" y="247637"/>
                  </a:lnTo>
                  <a:lnTo>
                    <a:pt x="92633" y="250266"/>
                  </a:lnTo>
                  <a:lnTo>
                    <a:pt x="233207" y="250266"/>
                  </a:lnTo>
                  <a:lnTo>
                    <a:pt x="259969" y="203911"/>
                  </a:lnTo>
                  <a:lnTo>
                    <a:pt x="269290" y="143890"/>
                  </a:lnTo>
                  <a:lnTo>
                    <a:pt x="265684" y="107111"/>
                  </a:lnTo>
                  <a:lnTo>
                    <a:pt x="255397" y="76123"/>
                  </a:lnTo>
                  <a:lnTo>
                    <a:pt x="239179" y="50774"/>
                  </a:lnTo>
                  <a:lnTo>
                    <a:pt x="217804" y="30886"/>
                  </a:lnTo>
                  <a:lnTo>
                    <a:pt x="196557" y="18326"/>
                  </a:lnTo>
                  <a:close/>
                </a:path>
                <a:path extrusionOk="0" h="302895" w="269875">
                  <a:moveTo>
                    <a:pt x="196557" y="51638"/>
                  </a:moveTo>
                  <a:lnTo>
                    <a:pt x="99860" y="51638"/>
                  </a:lnTo>
                  <a:lnTo>
                    <a:pt x="128694" y="54279"/>
                  </a:lnTo>
                  <a:lnTo>
                    <a:pt x="127997" y="54279"/>
                  </a:lnTo>
                  <a:lnTo>
                    <a:pt x="170573" y="74866"/>
                  </a:lnTo>
                  <a:lnTo>
                    <a:pt x="193522" y="116878"/>
                  </a:lnTo>
                  <a:lnTo>
                    <a:pt x="196557" y="146088"/>
                  </a:lnTo>
                  <a:lnTo>
                    <a:pt x="196557" y="5163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" name="Google Shape;168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2294" y="6275108"/>
              <a:ext cx="211010" cy="22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66698" y="6270256"/>
              <a:ext cx="230873" cy="225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21105" y="6270256"/>
              <a:ext cx="178942" cy="22553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" name="Google Shape;171;p16"/>
          <p:cNvGrpSpPr/>
          <p:nvPr/>
        </p:nvGrpSpPr>
        <p:grpSpPr>
          <a:xfrm>
            <a:off x="1466850" y="6134101"/>
            <a:ext cx="514350" cy="361948"/>
            <a:chOff x="1466850" y="6134101"/>
            <a:chExt cx="514350" cy="361948"/>
          </a:xfrm>
        </p:grpSpPr>
        <p:sp>
          <p:nvSpPr>
            <p:cNvPr id="172" name="Google Shape;172;p16"/>
            <p:cNvSpPr/>
            <p:nvPr/>
          </p:nvSpPr>
          <p:spPr>
            <a:xfrm>
              <a:off x="1466850" y="6210299"/>
              <a:ext cx="476250" cy="285750"/>
            </a:xfrm>
            <a:custGeom>
              <a:rect b="b" l="l" r="r" t="t"/>
              <a:pathLst>
                <a:path extrusionOk="0" h="285750" w="476250">
                  <a:moveTo>
                    <a:pt x="228346" y="0"/>
                  </a:moveTo>
                  <a:lnTo>
                    <a:pt x="165354" y="0"/>
                  </a:lnTo>
                  <a:lnTo>
                    <a:pt x="165354" y="161823"/>
                  </a:lnTo>
                  <a:lnTo>
                    <a:pt x="161925" y="194183"/>
                  </a:lnTo>
                  <a:lnTo>
                    <a:pt x="152019" y="216941"/>
                  </a:lnTo>
                  <a:lnTo>
                    <a:pt x="136017" y="230403"/>
                  </a:lnTo>
                  <a:lnTo>
                    <a:pt x="113919" y="234835"/>
                  </a:lnTo>
                  <a:lnTo>
                    <a:pt x="92456" y="230225"/>
                  </a:lnTo>
                  <a:lnTo>
                    <a:pt x="76581" y="216484"/>
                  </a:lnTo>
                  <a:lnTo>
                    <a:pt x="66802" y="193649"/>
                  </a:lnTo>
                  <a:lnTo>
                    <a:pt x="63373" y="161823"/>
                  </a:lnTo>
                  <a:lnTo>
                    <a:pt x="63373" y="0"/>
                  </a:lnTo>
                  <a:lnTo>
                    <a:pt x="0" y="0"/>
                  </a:lnTo>
                  <a:lnTo>
                    <a:pt x="0" y="156832"/>
                  </a:lnTo>
                  <a:lnTo>
                    <a:pt x="2540" y="192214"/>
                  </a:lnTo>
                  <a:lnTo>
                    <a:pt x="21844" y="245211"/>
                  </a:lnTo>
                  <a:lnTo>
                    <a:pt x="58928" y="275856"/>
                  </a:lnTo>
                  <a:lnTo>
                    <a:pt x="111887" y="285724"/>
                  </a:lnTo>
                  <a:lnTo>
                    <a:pt x="141224" y="283184"/>
                  </a:lnTo>
                  <a:lnTo>
                    <a:pt x="188341" y="262636"/>
                  </a:lnTo>
                  <a:lnTo>
                    <a:pt x="217932" y="220992"/>
                  </a:lnTo>
                  <a:lnTo>
                    <a:pt x="228346" y="157670"/>
                  </a:lnTo>
                  <a:lnTo>
                    <a:pt x="228346" y="0"/>
                  </a:lnTo>
                  <a:close/>
                </a:path>
                <a:path extrusionOk="0" h="285750" w="476250">
                  <a:moveTo>
                    <a:pt x="476250" y="12306"/>
                  </a:moveTo>
                  <a:lnTo>
                    <a:pt x="465455" y="7962"/>
                  </a:lnTo>
                  <a:lnTo>
                    <a:pt x="450088" y="4000"/>
                  </a:lnTo>
                  <a:lnTo>
                    <a:pt x="430911" y="1117"/>
                  </a:lnTo>
                  <a:lnTo>
                    <a:pt x="408051" y="0"/>
                  </a:lnTo>
                  <a:lnTo>
                    <a:pt x="380873" y="1930"/>
                  </a:lnTo>
                  <a:lnTo>
                    <a:pt x="331851" y="17119"/>
                  </a:lnTo>
                  <a:lnTo>
                    <a:pt x="292608" y="46812"/>
                  </a:lnTo>
                  <a:lnTo>
                    <a:pt x="266573" y="90322"/>
                  </a:lnTo>
                  <a:lnTo>
                    <a:pt x="257175" y="146951"/>
                  </a:lnTo>
                  <a:lnTo>
                    <a:pt x="259461" y="175526"/>
                  </a:lnTo>
                  <a:lnTo>
                    <a:pt x="277749" y="225475"/>
                  </a:lnTo>
                  <a:lnTo>
                    <a:pt x="314198" y="262559"/>
                  </a:lnTo>
                  <a:lnTo>
                    <a:pt x="368300" y="282943"/>
                  </a:lnTo>
                  <a:lnTo>
                    <a:pt x="401955" y="285673"/>
                  </a:lnTo>
                  <a:lnTo>
                    <a:pt x="425577" y="284556"/>
                  </a:lnTo>
                  <a:lnTo>
                    <a:pt x="472948" y="273367"/>
                  </a:lnTo>
                  <a:lnTo>
                    <a:pt x="463423" y="224523"/>
                  </a:lnTo>
                  <a:lnTo>
                    <a:pt x="452755" y="228015"/>
                  </a:lnTo>
                  <a:lnTo>
                    <a:pt x="439928" y="230873"/>
                  </a:lnTo>
                  <a:lnTo>
                    <a:pt x="425704" y="232829"/>
                  </a:lnTo>
                  <a:lnTo>
                    <a:pt x="411353" y="233553"/>
                  </a:lnTo>
                  <a:lnTo>
                    <a:pt x="380746" y="229476"/>
                  </a:lnTo>
                  <a:lnTo>
                    <a:pt x="356108" y="217716"/>
                  </a:lnTo>
                  <a:lnTo>
                    <a:pt x="337947" y="198970"/>
                  </a:lnTo>
                  <a:lnTo>
                    <a:pt x="326644" y="173913"/>
                  </a:lnTo>
                  <a:lnTo>
                    <a:pt x="322834" y="143243"/>
                  </a:lnTo>
                  <a:lnTo>
                    <a:pt x="327152" y="110083"/>
                  </a:lnTo>
                  <a:lnTo>
                    <a:pt x="339598" y="84429"/>
                  </a:lnTo>
                  <a:lnTo>
                    <a:pt x="358521" y="66192"/>
                  </a:lnTo>
                  <a:lnTo>
                    <a:pt x="382778" y="55308"/>
                  </a:lnTo>
                  <a:lnTo>
                    <a:pt x="410972" y="51701"/>
                  </a:lnTo>
                  <a:lnTo>
                    <a:pt x="426720" y="52552"/>
                  </a:lnTo>
                  <a:lnTo>
                    <a:pt x="440817" y="54838"/>
                  </a:lnTo>
                  <a:lnTo>
                    <a:pt x="453009" y="58127"/>
                  </a:lnTo>
                  <a:lnTo>
                    <a:pt x="463423" y="61988"/>
                  </a:lnTo>
                  <a:lnTo>
                    <a:pt x="476250" y="1230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73" name="Google Shape;173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14525" y="6134101"/>
              <a:ext cx="66675" cy="666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4" name="Google Shape;17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58350" y="0"/>
            <a:ext cx="25336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8350" y="0"/>
            <a:ext cx="2533650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